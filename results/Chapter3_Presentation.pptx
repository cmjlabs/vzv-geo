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3366"/>
                </a:solidFill>
                <a:latin typeface="Times New Roman"/>
              </a:defRPr>
            </a:pPr>
            <a:r>
              <a:t>Comparative Transcriptomic Analysis of</a:t>
            </a:r>
            <a:br/>
            <a:r>
              <a:t>Herpes Zoster Disease and RZV Vaccine Immunity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Times New Roman"/>
              </a:defRPr>
            </a:pPr>
            <a:r>
              <a:t>Establishing Disease and Protection Immune Signatures</a:t>
            </a:r>
            <a:br/>
            <a:r>
              <a:t>from Public Transcriptomic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27432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Datasets: GSE242252 (Bulk RNA-seq)  |  GSE249632 (scRNA-seq)  |  HRA008316 (scRNA-seq validation)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Arial"/>
              </a:defRPr>
            </a:pPr>
            <a:r>
              <a:t>June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3774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Arial"/>
              </a:defRPr>
            </a:pPr>
            <a:r>
              <a:t>352 ↑ / 44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HZ Acute DEGs (p&lt;0.05, |LFC|&gt;0.58)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3774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Arial"/>
              </a:defRPr>
            </a:pPr>
            <a:r>
              <a:t>IFI44L +1.82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Top ISG in HZ (Disease Signature)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80160"/>
            <a:ext cx="23774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325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80B9"/>
                </a:solidFill>
                <a:latin typeface="Arial"/>
              </a:defRPr>
            </a:pPr>
            <a:r>
              <a:t>D14: 164↑ / 152↓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RZV Peak Response (1st dose)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280160"/>
            <a:ext cx="23774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325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80B9"/>
                </a:solidFill>
                <a:latin typeface="Arial"/>
              </a:defRPr>
            </a:pPr>
            <a:r>
              <a:t>ZEB2 D365 +3.0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RZV Long-term Reprogramming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66"/>
                </a:solidFill>
                <a:latin typeface="Arial"/>
              </a:defRPr>
            </a:pPr>
            <a:r>
              <a:t>HZ Disease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4688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Type I IFN-driven innate immune storm: ISGs (IFI44L, IFI27, RSAD2, ISG15), complement activation (SERPING1), B cell/plasma cell expansion (MZB1, IGHG4), and broad cellular proliferation (TOP2A, PTTG1). ISG signal originates from monocytes/DCs/neutrophils, not T cells (validated by scRNA-seq HRA008316).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66"/>
                </a:solidFill>
                <a:latin typeface="Arial"/>
              </a:defRPr>
            </a:pPr>
            <a:r>
              <a:t>RZV Protection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5661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Pulsed, self-limiting adaptive CD4⁺ T cell immunity. Peak activation at D14 (164 up), return to baseline at D60 (10 up), re-activation at D74 (72 up). Long-term effector programming persists at D365 (HAVCR2 +8.0, ZEB2 +3.0). Inflammatory pathways actively suppressed (SPP1 −5.9 at D365).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66"/>
                </a:solidFill>
                <a:latin typeface="Arial"/>
              </a:defRPr>
            </a:pPr>
            <a:r>
              <a:t>Cross-Dataset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6634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HZ and RZV induce fundamentally different transcriptional programs. Type I IFN pathway — the hallmark of HZ — is completely absent in RZV response (ISG15: HZ +1.57 vs RZV D14 +0.1). RZV achieves protection through precise T cell reprogramming without triggering innate inflammation.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943600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66"/>
                </a:solidFill>
                <a:latin typeface="Times New Roman"/>
              </a:defRPr>
            </a:pPr>
            <a:r>
              <a:t>Core Thesis: An ideal vaccine should induce RZV-like Protection Signature while avoiding HZ-like Disease Signature.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Study Design: Three Datasets, Two Reference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07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926080"/>
                <a:gridCol w="292608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GSE242252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GSE249632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HRA008316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Technology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Bulk 3′ mRNA-seq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SMART-Seq v4 scRNA-seq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10x Genomics scRNA-seq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Sample Source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Whole Blood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gE Tetramer⁺ CD4⁺ T Cells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PBMCs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Subjects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26 HZ Patients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 Healthy Vaccinees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HA / 3 HP / 3 RP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Acute vs Convalescent (1yr)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D0→D14→D60→D74→D365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HP vs HA vs RP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Cells Passed QC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 (Bulk)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2,231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66,338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Analysis Method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DESeq2 (unpaired)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limma-voom (paired)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Cell-type annotation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Primary Output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Disease Signature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Protection Signature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Cell-source validation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Accession / Reference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Vandoren et al. 2024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GEO GSE249632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Zheng et al. 2024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Analytical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502920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Arial"/>
              </a:defRPr>
            </a:pPr>
            <a:r>
              <a:t>HZ Disease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What immune programs</a:t>
            </a:r>
            <a:br/>
            <a:r>
              <a:t> are activated during HZ?</a:t>
            </a:r>
            <a:br/>
            <a:r>
              <a:t> → Define Disease Signature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937760"/>
            <a:ext cx="502920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80B9"/>
                </a:solidFill>
                <a:latin typeface="Arial"/>
              </a:defRPr>
            </a:pPr>
            <a:r>
              <a:t>RZV Protection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What immune programs does</a:t>
            </a:r>
            <a:br/>
            <a:r>
              <a:t> a successful vaccine induce?</a:t>
            </a:r>
            <a:br/>
            <a:r>
              <a:t> → Define Protection 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Arial"/>
              </a:defRPr>
            </a:pPr>
            <a:r>
              <a:t>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HZ Disease Signature: Acute vs Convalescent Whole Blood Transcriptome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Times New Roman"/>
              </a:defRPr>
            </a:pPr>
            <a:r>
              <a:t>GSE242252 | DESeq2 Unpaired | 26 Acute vs 23 Convalescent | p&lt;0.05, |LFC|&gt;0.58 | Vandoren et al. 2024 Table S5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Differentially Expressed Genes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18288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Gene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LFC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p-value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Functional Category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IFI27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+2.16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1.5e-04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Type I IFN (ISG)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PTTG1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+2.01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3.0e-13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Cell Proliferation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BATF2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+1.95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9.5e-04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IFN-Induced TF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IGHG4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+1.94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2.6e-05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Immunoglobulin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IFI44L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+1.82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8.5e-05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Type I IFN (ISG)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SERPING1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+1.80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5.3e-07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Complement Activation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MZB1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+1.68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3.9e-06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Plasma Cell Marker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ISG15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+1.57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1.6e-05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Type I IFN (ISG)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RSAD2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1.2e-04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Antiviral Effector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TOP2A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3.4e-13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DNA Replication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GO Biological Process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2011680"/>
          <a:ext cx="3291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3152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 Term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Genes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Defense Response to Virus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 Cell Receptor Signaling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Antigen Receptor Signaling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Mitotic Spindle Organization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Chromosome Condensation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0392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Disease Signature Genes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011680"/>
            <a:ext cx="3200400" cy="3200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10312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Type I IFN Storm:</a:t>
            </a:r>
            <a:br/>
            <a:r>
              <a:t>  IFI27, IFI44L, RSAD2, ISG15,</a:t>
            </a:r>
            <a:br/>
            <a:r>
              <a:t>  MX1, IFIT5, OASL, IFI44</a:t>
            </a:r>
            <a:br/>
            <a:br/>
            <a:r>
              <a:t>Complement Activation:</a:t>
            </a:r>
            <a:br/>
            <a:r>
              <a:t>  SERPING1, SIGLEC1</a:t>
            </a:r>
            <a:br/>
            <a:br/>
            <a:r>
              <a:t>B Cell / Plasma Cell:</a:t>
            </a:r>
            <a:br/>
            <a:r>
              <a:t>  MZB1, IGHG4, IGLC2</a:t>
            </a:r>
            <a:br/>
            <a:br/>
            <a:r>
              <a:t>Cell Proliferation:</a:t>
            </a:r>
            <a:br/>
            <a:r>
              <a:t>  PTTG1, TOP2A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Arial"/>
              </a:defRPr>
            </a:pPr>
            <a:r>
              <a:t>Key Insight: HZ is an innate immune-dominated, multi-cellular inflammatory response. ISG signal originates from monocytes/DCs/neutrophils (HRA008316).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RZV Vaccine: CD4⁺ T Cell Transcriptional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Times New Roman"/>
              </a:defRPr>
            </a:pPr>
            <a:r>
              <a:t>GSE249632 | limma-voom Paired Design | 7 Donors, 2,231 QC Cells | FDR&lt;0.05, |LFC|&gt;0.58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DEG Counts by Timepoint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Timepoint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D14 vs D0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Strong 1st dose activation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D60 vs D0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Return to baseline (pre-2nd dose)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D74 vs D0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2nd dose re-activation (attenuated)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D365 vs D0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Long-term residual imprint (41 DEGs)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Protection Signature Genes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0" y="2011680"/>
          <a:ext cx="57607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914400"/>
                <a:gridCol w="18288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Gene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D14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D74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D365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ZEB2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 Cell Differentiation Reprogramming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CTLA4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+1.6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Immune Checkpoint / Self-Limitation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ICOS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+1.3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 Cell Co-Stimulation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HAVCR2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+7.6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+9.1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Effector Memory (TIM-3)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SPP1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−5.4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−6.2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−5.9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Inflammatory Cytokine — Actively Suppressed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ISG15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Type I IFN — NOT Activated (Neg. Control)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Pattern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840480" cy="3200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PULSED ACTIVATION:</a:t>
            </a:r>
            <a:br/>
            <a:r>
              <a:t>  D14 peak → D60 near-baseline</a:t>
            </a:r>
            <a:br/>
            <a:r>
              <a:t>  → D74 re-activation (weaker)</a:t>
            </a:r>
            <a:br/>
            <a:r>
              <a:t>  → D365 residual programming</a:t>
            </a:r>
            <a:br/>
            <a:br/>
            <a:r>
              <a:t>PERSISTENT SIGNATURE (D365):</a:t>
            </a:r>
            <a:br/>
            <a:r>
              <a:t>  ZEB2, HAVCR2, CTLA4 ↑</a:t>
            </a:r>
            <a:br/>
            <a:r>
              <a:t>  SPP1, CA2 ↓</a:t>
            </a:r>
            <a:br/>
            <a:br/>
            <a:r>
              <a:t>COMPLETELY ABSENT:</a:t>
            </a:r>
            <a:br/>
            <a:r>
              <a:t>  Type I IFN ISGs (ISG15, RSAD2)</a:t>
            </a:r>
            <a:br/>
            <a:r>
              <a:t>  Complement (SERPING1)</a:t>
            </a:r>
            <a:br/>
            <a:r>
              <a:t>  B cell markers (MZB1)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Arial"/>
              </a:defRPr>
            </a:pPr>
            <a:r>
              <a:t>Key Insight: RZV induces pulsed, self-limiting adaptive immunity — not sustained inflammation. Long-term effector programming established at D365.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Disease vs Protection: Head-to-Head Signature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Gene-Level Signature Comparison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55448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Gene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Functional Role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HZ LFC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RZV D14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RZV D365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IFI44L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Type I IFN ISG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+1.82 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+0.2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DISEASE-SPECIFIC: RZV avoids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IFI27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Type I IFN ISG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+2.16 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 ns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 ns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DISEASE-SPECIFIC: RZV avoids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ISG15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Type I IFN ISG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+1.57 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DISEASE-SPECIFIC: RZV avoids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RSAD2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Antiviral Effector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+1.55 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−0.3 ns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 ns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DISEASE-SPECIFIC: RZV avoids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SERPING1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Complement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+1.80 ***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−0.5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−0.3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DISEASE-SPECIFIC: RZV avoids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ZEB2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 Cell Differentiation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+3.2 ***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+3.0 ***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PROTECTION: Vaccine hallmark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CTLA4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Immune Checkpoint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 ns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 ***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+1.0 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PROTECTION: Self-limitation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ICOS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Co-Stimulation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+1.3 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PROTECTION: T cell help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HAVCR2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Effector Memory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 ns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+7.6 ***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+8.0 ***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PROTECTION: Long-term memory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SPP1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Inflammatory Cytokine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+0.3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−5.4 ***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−5.9 ***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PROTECTION: Active suppression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TOP2A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Cell Proliferation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+1.50 ***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+1.0 *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−0.6 ns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SHARED: Generic proliferation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PTTG1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Cell Cycle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+2.01 ***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+1.2 **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 ns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SHARED: Generic proliferation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303520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Core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HZ and RZV are fundamentally distinct immune programs. RZV protection does NOT require activating innate IFN inflammation. Instead, it relies on precise CD4⁺ T cell reprogramming (ZEB2) with built-in self-limitation (CTLA4) and active suppression of inflammatory pathways (SPP1).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Candidate Vaccine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Times New Roman"/>
              </a:defRPr>
            </a:pPr>
            <a:r>
              <a:t>Dual-Standard Assessment Derived from Public Transcriptomic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Arial"/>
              </a:defRPr>
            </a:pPr>
            <a:r>
              <a:t>Standard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Avoid HZ-like</a:t>
            </a:r>
            <a:br/>
            <a:r>
              <a:t>Inflammatory Signature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4114800" cy="127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Reference: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HZ Disease Reference</a:t>
            </a:r>
            <a:br/>
            <a:r>
              <a:t>(GSE242252 + Table S5)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Key Indicator Genes: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IFI44L, IFI27, RSAD2, ISG15, SERPING1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Expected Direction: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NOT activated</a:t>
            </a:r>
            <a:br/>
            <a:r>
              <a:t>(flat or suppressed)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7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Evaluated In: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25779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Chapter 4:</a:t>
            </a:r>
            <a:br/>
            <a:r>
              <a:t>Innate Immunity</a:t>
            </a:r>
            <a:br/>
            <a:r>
              <a:t>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Arial"/>
              </a:defRPr>
            </a:pPr>
            <a:r>
              <a:t>Standard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Achieve RZV-like</a:t>
            </a:r>
            <a:br/>
            <a:r>
              <a:t>Protective Signature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743200"/>
            <a:ext cx="4114800" cy="127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Reference: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RZV Protection Reference</a:t>
            </a:r>
            <a:br/>
            <a:r>
              <a:t>(GSE249632)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Key Indicator Genes: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ZEB2, CTLA4, ICOS, HAVCR2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4805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Expected Direction: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Persistently</a:t>
            </a:r>
            <a:br/>
            <a:r>
              <a:t>upregulated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2577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66666"/>
                </a:solidFill>
                <a:latin typeface="Arial"/>
              </a:defRPr>
            </a:pPr>
            <a:r>
              <a:t>Evaluated 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25779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Chapters 5–6:</a:t>
            </a:r>
            <a:br/>
            <a:r>
              <a:t>T Cell Response</a:t>
            </a:r>
            <a:br/>
            <a:r>
              <a:t>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035040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66"/>
                </a:solidFill>
                <a:latin typeface="Times New Roman"/>
              </a:defRPr>
            </a:pPr>
            <a:r>
              <a:t>This framework transforms Chapter 3 from a descriptive database analysis into the theoretical coordinate system for the entire thesis.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Key Immune Genes: RZV Vaccination Timeline by Functional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Times New Roman"/>
              </a:defRPr>
            </a:pPr>
            <a:r>
              <a:t>Curated 22-Gene Panel | 7 Functional Categories | D14 → D60 → D74 → D365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332720" cy="96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Gene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D14 LFC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D60 LFC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D74 LFC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D365 LFC</a:t>
                      </a:r>
                    </a:p>
                  </a:txBody>
                  <a:tcPr marL="38100" marR="38100" marT="25400" marB="2540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■ Differentiation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ZEB2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+3.6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IRF4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+0.7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TBX21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+0.3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■ Co-stim / Checkpoint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ICOS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+1.3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+0.8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CTLA4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TIGIT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+0.8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+0.9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PDCD1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+0.8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+0.7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+0.3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HAVCR2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+7.6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+9.1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■ Cytotoxicity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GZMA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GNLY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−2.5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+3.4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PRF1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−0.9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■ Activation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CD38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+6.4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TOX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+0.8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+1.0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■ Memory / Naive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CCR7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−0.3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IL7R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−1.2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−0.8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−1.0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TCF7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■ Tfh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CXCR5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−0.8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−1.6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BCL6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+0.3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■ Type I IFN (Control)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ISG15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−0.4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MX1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+0.3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RSAD2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−0.3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+0.1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</a:t>
                      </a:r>
                    </a:p>
                  </a:txBody>
                  <a:tcPr marL="38100" marR="38100" marT="25400" marB="25400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  STAT1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−0.2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−0.3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−0.1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Color coding: Green = Protection Signature genes (sustained up). Red = Disease Signature genes (Type I IFN — flat). Differentiation genes (ZEB2) and checkpoint genes (CTLA4, HAVCR2) show strongest long-term signals. Type I IFN genes (ISG15, MX1, RSAD2, STAT1) serve as negative controls — completely flat across timeline.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Times New Roman"/>
              </a:defRPr>
            </a:pPr>
            <a:r>
              <a:t>Conclusions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27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1. HZ Disease is an Innate Immune 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Type I IFN ISGs (IFI44L +1.82, IFI27 +2.16, ISG15 +1.57) dominate the acute transcriptional landscape. Complement, B cell activation, and broad proliferation co-occur. Single-cell validation (HRA008316) confirms ISG signal originates from monocytes/DCs/neutrophils — not T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2. RZV Induces Precise, Self-Limiting Adaptive Immunity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Pulsed activation pattern (D14 peak → D60 baseline → D74 re-activation) proves RZV does NOT cause sustained inflammation. Long-term reprogramming (ZEB2 +3.0 at D365) with built-in checkpoints (CTLA4 +1.0) and active inflammatory suppression (SPP1 −5.9).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3. Two Signatures are Fundamentally Distinct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The Type I IFN pathway — hallmark of HZ — is completely absent in RZV response. RZV achieves protection through T cell differentiation reprogramming without triggering innate inflammation.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4. Dual Evaluation Framework Established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Candidate vaccines should be assessed against two standards:</a:t>
            </a:r>
            <a:br/>
            <a:r>
              <a:t>  • Avoid Disease Signature (ISG15, RSAD2, IFI44L NOT activated)</a:t>
            </a:r>
            <a:br/>
            <a:r>
              <a:t>  • Achieve Protection Signature (ZEB2, HAVCR2, CTLA4 persistently upregulated)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